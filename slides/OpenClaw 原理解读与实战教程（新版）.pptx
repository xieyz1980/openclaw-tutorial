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关于OpenClaw的原理解读与实战教程。在接下来的时间里，我们将一起深入了解这个最近非常火爆的AI工具，从它的核心架构，到内部的文件系统，再到如何配置和使用它来完成实际任务，并重点探讨其安全风险与防范措施。希望通过这次分享，大家能对OpenClaw有一个全面而深入的掌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分享的主要内容。我们将从认识OpenClaw开始，了解它与传统AI的革命性不同；接着，我们会用一个生动的“公司模型”来解析它的核心架构；然后探秘它独特的文件系统，看看它是如何定义智能体的“灵魂”和“记忆”的；之后，我们会详细讲解几个核心概念；本次分享的一个重点是，我们会专门探讨其安全风险与防范措施；最后，我们会通过一个实战案例来巩固所学，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首先，让我们进入第一部分：初识OpenClaw。在这一部分，我们将回答一个最基本的问题：OpenClaw到底是什么？以及它相比我们熟悉的传统AI助手，有哪些革命性的不同。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OpenClaw到底是什么呢？我们可以简单理解为，它是一个能真正帮你“干活”的数字员工。区别于传统的聊天机器人只提供建议，OpenClaw可以直接操作你的电脑，帮你完成文件整理、邮件回复、视频剪辑等实际任务。如果说传统AI是一个只能给你出主意的“顾问”，那么OpenClaw就是一个能直接上手帮你把事情做完的“执行者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penClaw之所以如此强大和受欢迎，主要得益于它的三项“超能力”。首先是“本地优先”，所有数据都存储在你的本地设备上，这在隐私安全方面有巨大优势。其次是“持久记忆”，它能记住你们之前的对话和你的偏好，让交互更加连贯和个性化。最后是“多才多艺”，你可以通过为它安装各种“技能”来扩展它的能力，让它成为你的全能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了解了OpenClaw是什么之后，我们来深入看看它的内部是如何工作的。第二部分，我们将用一个非常形象的“公司模型”来解析OpenClaw的核心架构，重点介绍Gateway、Agent和Node这三个关键组件。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方便大家理解，我们可以把OpenClaw想象成一家高效运转的小型公司。在这家公司里，Gateway就像是前台接待，负责接听所有的外部电话（也就是你的指令），并把它们转交给合适的人。Agent则是公司里的专业员工，他们有自己的独立工位，负责思考和处理具体的任务。而Node，就是员工们使用的电脑和各种工具箱，负责执行那些具体的、琐碎的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先来看Gateway，也就是公司的“前台”。它是整个系统的唯一入口，所有来自不同渠道的用户指令，都要通过它。它的核心职责包括三个方面：首先是作为统一入口，接收所有消息；其次是智能路由，把消息准确地分发给对应的Agent；最后是会话管理，确保你和智能体的对话是连贯的，不会聊到一半就“断片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Agent，也就是公司里的“专业员工”。每个Agent都是独立的，拥有自己的工作空间和记忆，这意味着你可以创建多个不同角色的Agent来处理不同类型的任务。他们的核心工作是理解你的指令，然后思考如何一步步完成它，包括决定调用哪些工具和技能。就像这张图展示的，Agent会将你的自然语言指令，转化为对具体工具的调用，从而完成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宏观的“公司架构”之后，我们再深入微观，看看OpenClaw是如何通过文件来定义一个智能体的。第三部分，我们将一起探秘它的文件系统，看看那些看似普通的Markdown文件，是如何赋予智能体“灵魂”和“记忆”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penClaw的所有“配置”和“记忆”都存储在一个叫做Workspace（工作区）的目录下的纯文本文件中，主要是Markdown格式。我们可以把这个工作区看作是每个Agent的“员工档案袋”。里面的SOUL.md文件，定义了它的“灵魂”，也就是人格和行为准则；IDENTITY.md是它的“名片”；而MEMORY.md和memory目录，则构成了它的“记忆系统”。这种基于文件的设计非常透明，你可以直接用文本编辑器修改它们，来定制你的智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理解了文件系统，我们再来梳理一下OpenClaw中的几个核心概念，它们分别是Role、Memory、Skill、Model和Prompt。掌握这些概念，是理解OpenClaw工作机制的关键。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五个核心概念共同构成了OpenClaw的运作基础。Role，角色，决定了智能体“是谁”；Memory，记忆，决定了它“记得什么”；Skill，技能，决定了它“会做什么”；Model，模型，是它的“大脑”，决定了它“如何思考”；而Prompt，提示词，是最终整合了所有信息后，发给“大脑”的具体行动指令，决定了它“这次如何行动”。理解了这五个概念，就理解了OpenClaw的精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在享受OpenClaw带来的便利之前，我们必须正视它所带来的安全风险。这是本次分享的重点章节。我们将探讨使用OpenClaw可能面临的主要风险，并学习如何给我们的“数字员工”装上安全阀，确保使用安全。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使用OpenClaw主要面临三大风险。首先是权限风险，因为它能执行系统命令，权限过大就像给了陌生人你家的钥匙。防范的关键是“最小权限原则”，只给它开门的钥匙，不给它卧室的钥匙。其次是配置风险，敏感信息如果处理不当，很容易泄露。我们应该使用环境变量等安全方式来管理密钥。最后是依赖风险，它依赖外部的AI模型服务，如果服务出问题，它也会“罢工”。我们需要了解服务条款，并考虑备选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理论学习完了，现在我们进入最激动人心的实战环节。在第六部分，我们将通过一个具体的案例，来看看如何让OpenClaw自动生成一个视频，并将它保存到GitHub仓库中。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个案例的需求很明确：让OpenClaw根据我们的描述生成一个视频，然后自动把这个视频文件上传到GitHub。整个流程完全自动化。首先，我们用自然语言下达指令。然后，Agent会理解并规划任务步骤，接着它会依次调用视频生成和Git操作这两个技能，完成视频制作和文件上传。最后，它会告诉你任务完成了。整个过程，我们只需要发出指令，剩下的全部交给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最后，我们对今天的分享做一个简单的总结，并对OpenClaw的未来发展做一些展望。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OpenClaw的核心价值在于它实现了AI从“说”到“做”的跨越，而我们学习的重点是理解它的“公司模型”架构、掌握其文件系统的配置方法，并时刻重视安全风险的防范。展望未来，我们期待看到更智能的多智能体协作、更完善的安全机制，以及OpenClaw在更多领域的广泛应用，它有望成为我们未来工作和生活中一个强大的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我的分享就到这里，感谢大家的观看。接下来是问答环节，大家有什么问题都可以提出来，我们一起交流探讨。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notesSlides/notesSlide2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notesSlides/notesSlide13.xml" Type="http://schemas.openxmlformats.org/officeDocument/2006/relationships/notesSlid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notesSlides/notesSlide15.xml" Type="http://schemas.openxmlformats.org/officeDocument/2006/relationships/notesSlid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../notesSlides/notesSlide17.xml" Type="http://schemas.openxmlformats.org/officeDocument/2006/relationships/notesSlid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82.png" Type="http://schemas.openxmlformats.org/officeDocument/2006/relationships/image"/><Relationship Id="rId15" Target="../media/image83.svg" Type="http://schemas.openxmlformats.org/officeDocument/2006/relationships/image"/><Relationship Id="rId16" Target="../notesSlides/notesSlide19.xml" Type="http://schemas.openxmlformats.org/officeDocument/2006/relationships/notesSlide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notesSlides/notesSlide20.xml" Type="http://schemas.openxmlformats.org/officeDocument/2006/relationships/notesSlide"/><Relationship Id="rId5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689600" y="1524000"/>
            <a:ext cx="812800" cy="812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原理解读与实战教程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从架构到文件，从配置到案例，全方位掌握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4826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794000" y="5054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175000" y="50546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核心架构解析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26000" y="5054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50546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实战配置指南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858000" y="5054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239000" y="50546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安全风险防范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2032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2286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初识 OpenClaw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3600" y="2730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从“聊天”到“做事”的跨越，开启智能体新认知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68800" y="2032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22800" y="228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1562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核心架构解析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22800" y="2730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Gateway、Agent与Node的“公司模型”架构解析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032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9154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文件系统探秘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730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定义智能体的“灵魂”与“记忆”存储机制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" y="4191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63600" y="4445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441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核心概念详解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3600" y="4889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 Role, Memory, Skill, Model, Prompt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68800" y="4191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22800" y="4445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156200" y="441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安全与风险防范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22800" y="4889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给“数字员工”装上安全阀，保障业务安全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4191000"/>
            <a:ext cx="3454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445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915400" y="4419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实战案例演示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4889500"/>
            <a:ext cx="2946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自动生成视频并上传至GitHub的完整流程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初识 OpenClaw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CD6F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从“聊天”到“做事”的跨越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533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是什么？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413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905000" y="2413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真正的“数字员工”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110" flipH="false" flipV="false">
            <a:off x="1143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3302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它不是一个只会说话的聊天机器人，而是一个能真正帮你“干活”的数字员工。</a:t>
            </a:r>
            <a: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CD6F6"/>
                </a:solidFill>
                <a:latin typeface="Noto Sans SC"/>
                <a:ea typeface="Noto Sans SC"/>
                <a:cs typeface="Noto Sans SC"/>
                <a:sym typeface="Noto Sans SC"/>
              </a:rPr>
              <a:t>它能在你的电脑上操作软件、读写文件、执行任务，将指令转化为实际行动。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413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239000" y="2413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核心差异对比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0110" flipH="false" flipV="false">
            <a:off x="6477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3365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85000" y="3365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AI = 顾问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85000" y="3746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只能提供建议，如“怎么写代码”，无法直接执行。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= 执行者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47625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直接帮你写好代码、保存文件并运行，完成全流程。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它的“超能力”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968500" y="2413000"/>
            <a:ext cx="889000" cy="889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本地优先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数据都在你自己手里，不传云端，隐私更安全。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651500" y="2413000"/>
            <a:ext cx="889000" cy="889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持久记忆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它记得你上周说过的话，不需要你每次重复背景。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334500" y="2413000"/>
            <a:ext cx="889000" cy="889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多才多艺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通过安装“技能”，它能学会写日报、查股市、甚至控制浏览器。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核心架构解析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44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8D2D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Gateway、Agent与Node的“公司模型”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一家公司是如何运转的？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95500" y="2286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Gateway (网关)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33500" y="3556000"/>
            <a:ext cx="2159000" cy="330200"/>
          </a:xfrm>
          <a:prstGeom prst="roundRect">
            <a:avLst>
              <a:gd name="adj" fmla="val 50000"/>
            </a:avLst>
          </a:prstGeom>
          <a:solidFill>
            <a:srgbClr val="64FFD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33500" y="35560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角色：前台接待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统一入口，接听电话，将需求转给对应部门。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286000"/>
            <a:ext cx="635000" cy="635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(智能体)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16500" y="3556000"/>
            <a:ext cx="2159000" cy="330200"/>
          </a:xfrm>
          <a:prstGeom prst="roundRect">
            <a:avLst>
              <a:gd name="adj" fmla="val 50000"/>
            </a:avLst>
          </a:prstGeom>
          <a:solidFill>
            <a:srgbClr val="64FFD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16500" y="35560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角色：专业员工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负责思考和处理具体任务，拥有独立工位。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032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2286000"/>
            <a:ext cx="635000" cy="635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255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Node (节点/工具)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99500" y="3556000"/>
            <a:ext cx="2159000" cy="330200"/>
          </a:xfrm>
          <a:prstGeom prst="roundRect">
            <a:avLst>
              <a:gd name="adj" fmla="val 50000"/>
            </a:avLst>
          </a:prstGeom>
          <a:solidFill>
            <a:srgbClr val="64FFDA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99500" y="3556000"/>
            <a:ext cx="215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角色：电脑与工具箱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执行具体的脏活累活（如打开浏览器、修改文件）。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Gateway：公司的“前台”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413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143000" y="317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统一入口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7188" flipH="false" flipV="false">
            <a:off x="1143016" y="3613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143000" y="3810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无论你从 Telegram、飞书还是 Web 发消息，都由它统一接收，是系统的唯一接入点。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26000" y="2413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826000" y="317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智能路由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7188" flipH="false" flipV="false">
            <a:off x="4826016" y="3613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826000" y="3810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智能识别消息意图，自动将请求分发给正确的“员工”或 Agent，确保高效响应。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09000" y="2413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509000" y="317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会话管理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7188" flipH="false" flipV="false">
            <a:off x="8509016" y="3613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509000" y="3810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全程维护对话上下文，确保聊天过程连贯，不会出现聊到一半就“断片”的情况。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Agent：公司的“专业员工”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32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320800" y="2006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独立工位与记忆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20800" y="241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 Agent 都拥有独立的工作区和记忆空间，任务之间互不干扰，确保工作环境的纯净与高效。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302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20800" y="3276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智能任务拆解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20800" y="368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将用户的一句抽象指令，自动拆解为具体、可执行的步骤，化繁为简，确保目标清晰落地。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57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20800" y="45466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灵活工具调用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20800" y="495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根据任务需求自主选择工具，如调用浏览器搜索信息或调用编辑器修改文件，具备极强的执行力。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rcRect l="4768" r="4768" t="0" b="0"/>
          <a:stretch>
            <a:fillRect/>
          </a:stretch>
        </p:blipFill>
        <p:spPr>
          <a:xfrm rot="0" flipH="false" flipV="false">
            <a:off x="6477000" y="2032000"/>
            <a:ext cx="4953000" cy="3556000"/>
          </a:xfrm>
          <a:prstGeom prst="roundRect">
            <a:avLst>
              <a:gd name="adj" fmla="val 3571"/>
            </a:avLst>
          </a:prstGeom>
          <a:noFill/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254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文件系统探秘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CD6F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定义智能体的“灵魂”与“记忆”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工作区 = “员工档案袋”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429000" cy="3556000"/>
          </a:xfrm>
          <a:prstGeom prst="roundRect">
            <a:avLst>
              <a:gd name="adj" fmla="val 370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984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SOUL.md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1016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灵魂 / 核心人格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 Agent 的人格特质、价值观体系及行为准则，是智能体的内在核心。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2032000"/>
            <a:ext cx="3429000" cy="3556000"/>
          </a:xfrm>
          <a:prstGeom prst="roundRect">
            <a:avLst>
              <a:gd name="adj" fmla="val 370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286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35500" y="2984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IDENTITY.md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46355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35500" y="3556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名片 / 身份标识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 Agent 的名字、角色设定、头像链接等公开信息，是对外展示的身份名片。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2032000"/>
            <a:ext cx="3429000" cy="3556000"/>
          </a:xfrm>
          <a:prstGeom prst="roundRect">
            <a:avLst>
              <a:gd name="adj" fmla="val 370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286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255000" y="2984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MEMORY.md &amp; memory/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4946" flipH="false" flipV="false">
            <a:off x="8255014" y="342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35560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记忆系统 / 长期与短期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3937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MEMORY.md 存储长期记忆与重要结论，memory/ 目录则记录每日对话日志，构建完整的记忆链条。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524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核心概念详解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Role · Memory · Skill · Model · Prompt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核心概念解析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60500" y="2286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Role 角色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1016026" y="3486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3619500"/>
            <a:ext cx="177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由SOUL和IDENTITY定义，决定了行为模式和沟通风格。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核心：它是谁？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845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2286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1115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记忆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8647" flipH="false" flipV="false">
            <a:off x="3238526" y="3486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111500" y="3619500"/>
            <a:ext cx="177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由MEMORY文件系统实现，是个性化服务的基础。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核心：它记得什么？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905500" y="22860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334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技能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8647" flipH="false" flipV="false">
            <a:off x="5461026" y="3486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334000" y="3619500"/>
            <a:ext cx="177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它的“工具箱”，通过安装技能扩展能力边界。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核心：它会做什么？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295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28000" y="2286000"/>
            <a:ext cx="635000" cy="635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5565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 模型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28647" flipH="false" flipV="false">
            <a:off x="7683526" y="3486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556500" y="3619500"/>
            <a:ext cx="177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它的“大脑”，负责理解语言和逻辑推理。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核心：它如何思考？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0" y="2032000"/>
            <a:ext cx="1778000" cy="3810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223500" y="2286000"/>
            <a:ext cx="635000" cy="635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7790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提示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34376" flipH="false" flipV="false">
            <a:off x="9906032" y="3486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9779000" y="3619500"/>
            <a:ext cx="1524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最终发给模型的指令，由所有信息动态构建。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核心：如何行动？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254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651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91200" y="2794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0" y="3556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安全与风险防范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431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0" y="4508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CD6F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给“数字员工”装上安全阀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4757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主要风险与防范措施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2184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75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风险：权限过大，引狼入室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Agent拥有执行系统命令的权限，若被恶意利用，可能导致严重的系统安全问题。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57030" flipH="false" flipV="false">
            <a:off x="5588000" y="2724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222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731000" y="2184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防范：遵循最小权限原则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603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只为Agent分配完成任务所必需的权限，绝不使用管理员权限运行，限制其操作范围。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619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7719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75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风险：配置不当，隐私泄露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191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若将敏感的API密钥、密码等硬编码在配置文件中，一旦代码泄露，将导致严重的隐私问题。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57030" flipH="false" flipV="false">
            <a:off x="5588000" y="43116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3810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31000" y="37719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防范：密钥安全管理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191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使用环境变量或安全的密钥管理工具存储敏感信息，并定期轮换密钥，避免硬编码。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20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97000" y="535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75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风险：依赖外部，服务中断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778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功能依赖于外部大语言模型API，若API服务中断或收费模式改变，会直接影响业务连续性。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357030" flipH="false" flipV="false">
            <a:off x="5588000" y="5899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350000" y="5397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31000" y="535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防范：多方案备选与预案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5778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了解API服务条款，考虑本地部署开源模型作为备选方案，并做好任务失败的降级预案。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254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实战案例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93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自动生成视频并上传至 GitHub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案例：自动生成视频并保存至GitHub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60500" y="2286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用户指令下达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365500"/>
            <a:ext cx="165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下达自然语言指令：“生成一个60秒科技感AI介绍视频，并上传至GitHub”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730500" y="342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0988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797300" y="2286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2258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Agent理解规划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225800" y="3365500"/>
            <a:ext cx="165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解析用户意图，识别核心任务为“视频生成”与“Git操作”，并规划执行步骤。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67300" y="3429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4356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134100" y="2286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5626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调用视频生成Skill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62600" y="3365500"/>
            <a:ext cx="165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根据描述参数，自动调用视频生成API，渲染并生成符合要求的视频文件。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404100" y="3429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7724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70900" y="2286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8994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调用Git操作Skill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99400" y="3365500"/>
            <a:ext cx="165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自动执行Git命令，将生成的视频文件提交并推送到指定的GitHub仓库。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740900" y="3429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109200" y="2032000"/>
            <a:ext cx="1320800" cy="3302000"/>
          </a:xfrm>
          <a:prstGeom prst="roundRect">
            <a:avLst>
              <a:gd name="adj" fmla="val 961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566400" y="2286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0236200" y="2921000"/>
            <a:ext cx="1066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任务完成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236200" y="3365500"/>
            <a:ext cx="10668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通知用户任务完成，并附上文件链接。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6F1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4184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892B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回顾核心要点，展望未来发展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73200" y="2311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核心回顾与价值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766" flipH="false" flipV="false">
            <a:off x="1066809" y="2787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3048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3022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核心价值：从对话到执行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33782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实现了AI从“对话式”向“执行式”的演进，核心在于本地执行、持久记忆和可扩展技能。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66800" y="42672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2418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学习重点：架构与安全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4597400"/>
            <a:ext cx="447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深入理解“公司模型”架构，掌握文件系统配置，并时刻重视安全风险防范。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54800" y="23368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61200" y="2311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未来发展与展望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766" flipH="false" flipV="false">
            <a:off x="6654809" y="27876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54800" y="3048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30226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更智能的协作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54800" y="33782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多Agent协同工作，像团队一样处理复杂任务，提升整体效率。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54800" y="40132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39878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更安全的边界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54800" y="43434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完善内置安全机制，降低使用门槛，确保数据与操作的安全性。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54800" y="49784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85000" y="4953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更广泛的应用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54800" y="53086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深入各行各业，成为个人和企业不可或缺的生产力工具。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64FFD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175000"/>
            <a:ext cx="6350000" cy="6350000"/>
          </a:xfrm>
          <a:prstGeom prst="ellipse">
            <a:avLst/>
          </a:prstGeom>
          <a:solidFill>
            <a:srgbClr val="64FFDA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032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FFDA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286000" y="3683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